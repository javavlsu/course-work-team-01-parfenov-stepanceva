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0" r:id="rId11"/>
    <p:sldId id="273" r:id="rId12"/>
    <p:sldId id="275" r:id="rId13"/>
    <p:sldId id="27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063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742" y="180671"/>
            <a:ext cx="11560515" cy="4141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7200" b="1" dirty="0">
                <a:latin typeface="Playfair Display" panose="00000500000000000000" pitchFamily="2" charset="-52"/>
              </a:rPr>
              <a:t>КУРСОВОЙ ПРОЕКТ</a:t>
            </a:r>
          </a:p>
          <a:p>
            <a:pPr marL="0" indent="0" algn="ctr">
              <a:buNone/>
            </a:pPr>
            <a:r>
              <a:rPr lang="ru-RU" sz="7200" dirty="0">
                <a:latin typeface="Playfair Display" panose="00000500000000000000" pitchFamily="2" charset="-52"/>
              </a:rPr>
              <a:t>«Прототип программной системы канбан-доска»</a:t>
            </a:r>
            <a:endParaRPr lang="en-US" sz="7200" dirty="0">
              <a:latin typeface="Playfair Display" panose="00000500000000000000" pitchFamily="2" charset="-5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2225040" y="4376716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0" dirty="0"/>
          </a:p>
        </p:txBody>
      </p:sp>
      <p:sp>
        <p:nvSpPr>
          <p:cNvPr id="12" name="Shape 10"/>
          <p:cNvSpPr/>
          <p:nvPr/>
        </p:nvSpPr>
        <p:spPr>
          <a:xfrm>
            <a:off x="2164080" y="4333098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  <a:effectLst>
            <a:outerShdw blurRad="177800" dist="508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2328672" y="447025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28672" y="4717146"/>
            <a:ext cx="1158240" cy="1417320"/>
          </a:xfrm>
          <a:prstGeom prst="roundRect">
            <a:avLst>
              <a:gd name="adj" fmla="val 3947"/>
            </a:avLst>
          </a:prstGeom>
          <a:solidFill>
            <a:srgbClr val="ECEAE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392680" y="4762866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DO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92680" y="4991466"/>
            <a:ext cx="103022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2465832" y="5110338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2575560" y="50554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465832" y="5238354"/>
            <a:ext cx="88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auth bug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92680" y="5448666"/>
            <a:ext cx="103022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2465832" y="5567538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2575560" y="55126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465832" y="5695554"/>
            <a:ext cx="88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redesign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50920" y="4717146"/>
            <a:ext cx="1158240" cy="1417320"/>
          </a:xfrm>
          <a:prstGeom prst="roundRect">
            <a:avLst>
              <a:gd name="adj" fmla="val 3947"/>
            </a:avLst>
          </a:prstGeom>
          <a:solidFill>
            <a:srgbClr val="ECEAE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3614928" y="4762866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14928" y="4991466"/>
            <a:ext cx="103022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3688080" y="5110338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3797808" y="50554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688080" y="5238354"/>
            <a:ext cx="88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UI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4717146"/>
            <a:ext cx="1158240" cy="1417320"/>
          </a:xfrm>
          <a:prstGeom prst="roundRect">
            <a:avLst>
              <a:gd name="adj" fmla="val 3947"/>
            </a:avLst>
          </a:prstGeom>
          <a:solidFill>
            <a:srgbClr val="ECEAE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4837176" y="4762866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37176" y="4991466"/>
            <a:ext cx="103022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910328" y="5110338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020056" y="50554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910328" y="5238354"/>
            <a:ext cx="88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79630" y="4603531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3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ВЫПОЛНИЛИ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677656" y="5437945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Ст. </a:t>
            </a:r>
            <a:r>
              <a:rPr lang="en-US" sz="2400" dirty="0" err="1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</a:t>
            </a:r>
            <a:r>
              <a:rPr lang="en-US" sz="2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ПРИ-123 </a:t>
            </a:r>
            <a:endParaRPr lang="ru-RU" sz="2400" dirty="0">
              <a:solidFill>
                <a:srgbClr val="0A0A0A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Парфёнов </a:t>
            </a:r>
            <a:r>
              <a:rPr lang="en-US" sz="2400" dirty="0" err="1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Роман</a:t>
            </a:r>
            <a:r>
              <a:rPr lang="en-US" sz="2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endParaRPr lang="ru-RU" sz="2400" dirty="0">
              <a:solidFill>
                <a:srgbClr val="0A0A0A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Степанцева</a:t>
            </a:r>
            <a:r>
              <a:rPr lang="en-US" sz="2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Екатерина</a:t>
            </a:r>
            <a:r>
              <a:rPr lang="en-US" sz="2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26310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ВВЕДЕНИЕ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518016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Зачем</a:t>
            </a:r>
            <a:endParaRPr lang="en-US" sz="6400" dirty="0"/>
          </a:p>
          <a:p>
            <a:pPr marL="0" indent="0" algn="l">
              <a:buNone/>
            </a:pPr>
            <a:r>
              <a:rPr lang="en-US" sz="64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командам Kanban?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dirty="0" err="1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Современные</a:t>
            </a:r>
            <a:r>
              <a:rPr lang="en-US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компании</a:t>
            </a:r>
            <a:r>
              <a:rPr lang="en-US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работают с десятками </a:t>
            </a:r>
            <a:r>
              <a:rPr lang="en-US" dirty="0" err="1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</a:t>
            </a:r>
            <a:r>
              <a:rPr lang="en-US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параллельно</a:t>
            </a:r>
            <a:r>
              <a:rPr lang="en-US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ru-RU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Мессенджеры</a:t>
            </a:r>
            <a:r>
              <a:rPr lang="en-US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таблицы не справляются — теряется контекст, кто </a:t>
            </a:r>
            <a:r>
              <a:rPr lang="en-US" dirty="0" err="1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</a:t>
            </a:r>
            <a:r>
              <a:rPr lang="en-US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делает и в каком статусе.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4390845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Kanban-доска решает это визуально: задача = карточка, статус = колонка. Прозрачно, наглядно, легко перестроить под любой процесс.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90847" y="300889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0927" y="300889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Хаос в задачах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30927" y="337465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Визуальные колонки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0847" y="3786134"/>
            <a:ext cx="484632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990847" y="387757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0927" y="387757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Непонятный статус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30927" y="424333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Drag-and-drop между колонками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0847" y="4654814"/>
            <a:ext cx="484632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990847" y="474625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0927" y="474625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История потеряна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0927" y="511201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Аудит всех изменений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4343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ЦЕЛЬ ПРОЕКТА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Что мы сделали.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Разработали full-stack веб-приложение — Kanban-доску для командной работы.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на Spring Boot, frontend на React, аутентификация по JWT, drag-and-drop, аудит.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41376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Аутентификация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в HttpOnly cookie, BCrypt, refresh-токены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352044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6576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4160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Команды и доски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0" y="5029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Группы, роли admin/member, приглашения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49224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4160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Канбан с DnD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5029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Колонки и задачи, перетаскивание, фильтры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352044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932688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0" y="4160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Аудит изменений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6880" y="5029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 полей задачи через события Spring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80644" y="374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ПРЕЦЕДЕНТОВ</a:t>
            </a:r>
            <a:endParaRPr lang="en-US" sz="9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9B2F4C-97DE-754D-094A-458158560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65" y="743817"/>
            <a:ext cx="8153269" cy="59268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АРХИТЕКТУРА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Слоистая архитектура.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Классическая разбивка backend: Controllers → Services → Repositories → DB. Каждый слой делает ровно одно, проще тестировать и менять.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B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173736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Controllers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Принимают HTTP, валидируют payload (@Valid), отдают DTO.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52928" y="31089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081528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B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081528" y="3794760"/>
            <a:ext cx="173736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081528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Services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081528" y="4526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Бизнес-логика, проверка прав, @Transactional.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57216" y="31089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385816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B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385816" y="3794760"/>
            <a:ext cx="173736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385816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Repositories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385816" y="4526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Data JPA, @EntityGraph для борьбы с N+1.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61504" y="31089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7690104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B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690104" y="3794760"/>
            <a:ext cx="173736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7690104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Entities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690104" y="4526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JPA-сущности с LAZY-связями и составными ключами.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65792" y="31089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9994392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B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994392" y="3794760"/>
            <a:ext cx="173736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9994392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Database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994392" y="4526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8.0, миграции Liquibase, индексы по FK.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393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ТЕХНОЛОГИИ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Backend stack.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864" cy="132588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Java 21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61688" y="2423160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361688" y="2423160"/>
            <a:ext cx="54864" cy="132588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636008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Spring Boot 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74736" y="2423160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8174736" y="2423160"/>
            <a:ext cx="54864" cy="132588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449056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MySQL 8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54864" cy="132588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822960" y="4142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Liquibase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361688" y="3913632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361688" y="3913632"/>
            <a:ext cx="54864" cy="132588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636008" y="4142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JWT (jjwt)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174736" y="3913632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8174736" y="3913632"/>
            <a:ext cx="54864" cy="132588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8449056" y="4142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MapStruct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ДОПОЛНИТЕЛЬНО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 ·  Jakarta Validation  ·  Lombok  ·  Maven  ·  Docker (multi-stage)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ТЕХНОЛОГИИ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Frontend stack.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React 19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Хуки, lazy + Suspense, code-splitting.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0712" y="24231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410712" y="2423160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593592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Vite 8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93592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Сборщик, dev-proxy на :8080.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2784" y="24231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272784" y="2423160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455664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TanStack Query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55664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Кэширование, инвалидация по ключам, optimistic.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34856" y="24231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9134856" y="2423160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9317736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Zustand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317736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Лёгкий store: auth, UI, i18n.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67912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548640" y="3867912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31520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dnd-kit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31520" y="4507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 колонок и задач.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10712" y="3867912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3410712" y="3867912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3593592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Tailwind 3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3593592" y="4507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Утилитарный CSS, кастомная палитра.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2784" y="3867912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6272784" y="3867912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6455664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RHF + Zod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455664" y="4507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Формы и валидация по схеме.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34856" y="3867912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Shape 36"/>
          <p:cNvSpPr/>
          <p:nvPr/>
        </p:nvSpPr>
        <p:spPr>
          <a:xfrm>
            <a:off x="9134856" y="3867912"/>
            <a:ext cx="54864" cy="1280160"/>
          </a:xfrm>
          <a:prstGeom prst="rect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9317736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Framer Motion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9317736" y="4507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Анимации страниц, появления элементов.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5760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ТАКЖЕ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Axios (interceptors)  ·  React Router 7  ·  date-fns  ·  Sonner (toasts)  ·  Lucide-react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МОДЕЛЬ ДАННЫХ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Ключевые сущности.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СУЩНОСТЬ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НАЗНАЧЕНИЕ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64240" cy="0"/>
          </a:xfrm>
          <a:prstGeom prst="line">
            <a:avLst/>
          </a:prstGeom>
          <a:noFill/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1064240" cy="329184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8346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Аккаунт пользователя (email, имя, аватар)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8346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M:N с GroupTeam через GroupMember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1638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GroupTeam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1638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— корневой агрегат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31638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1:N → Boards, M:N с 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11064240" cy="329184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48640" y="3493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4930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Канбан-доска внутри команды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34930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1:N → Columns, M:N с User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8221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BoardColumn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8221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Колонка доски (To Do, In Progress…)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3822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M:1 → Board, 1:N → Tasks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51376"/>
            <a:ext cx="11064240" cy="329184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48640" y="41513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41513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Карточка задачи (приоритет, дедлайн, статус)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1513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M:1 → Column, M:1 → User (assignee)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4805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44805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Комментарий к задаче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4805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M:1 → Task, M:1 → User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809744"/>
            <a:ext cx="11064240" cy="329184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548640" y="48097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48097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Файловое вложение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48097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M:1 → Task, M:1 → User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1389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TaskHistory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5138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 изменений задачи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51389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M:1 → Task (создаётся событием)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468112"/>
            <a:ext cx="11064240" cy="329184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48640" y="54681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Invitation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26080" y="54681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Приглашение в группу (email или link)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54681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M:1 → GroupTeam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5797296"/>
            <a:ext cx="11064240" cy="0"/>
          </a:xfrm>
          <a:prstGeom prst="line">
            <a:avLst/>
          </a:prstGeom>
          <a:noFill/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 DRAG &amp; DROP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Optimistic updates на DnD.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 перетаскивает карточку — карточка возвращается в исходную колонку на время запроса (200-500 мс), потом «прыгает» назад. UX страдает.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useMoveTask в TanStack Query: onMutate сразу обновляет cache, onError откатывает к сохранённому prev, onSettled инвалидирует ключ tasksKey(boardId).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42316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49224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useMoveTask.js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2926080"/>
            <a:ext cx="182880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onMutate: async ({ taskId, toColumn, newPos }) =&gt; {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qc.cancelQueries(tasksKey(boardId));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prev = qc.getQueryData(tasksKey(boardId));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qc.setQueryData(tasksKey(boardId), (old) =&gt;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reorderOptimistic(old, taskId, toColumn, newPos)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prev };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onError: (err, vars, ctx) =&gt; {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qc.setQueryData(tasksKey(boardId), ctx.prev);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onSettled: () =&gt; {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qc.invalidateQueries(tasksKey(boardId));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АУДИТ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История изменений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через события.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Бизнес-сервис ничего не знает про аудит — он только публикует TaskChangeEvent. Слушатель TaskHistoryListener сам пишет запись в task_history. Слабая связанность.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777240" y="4315968"/>
            <a:ext cx="109728" cy="10972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Фиксация автора и времени создания задачи.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4069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593592" y="4315968"/>
            <a:ext cx="109728" cy="10972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776472" y="4251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93592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TaskChangeEvent на каждое изменённое поле: oldValue → newValue.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4069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6409944" y="4315968"/>
            <a:ext cx="109728" cy="10972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592824" y="4251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9944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Смена колонки или позиции внутри колонки.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97696" y="4069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9226296" y="4315968"/>
            <a:ext cx="109728" cy="10972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409176" y="4251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26296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Удаление задачи (запись остаётся в истории даже после удаления).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05574" y="8767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ИНТЕРФЕЙС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5574" y="361995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Дашборд и доска.</a:t>
            </a:r>
            <a:endParaRPr lang="en-US" sz="5200" dirty="0"/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85F6763-4309-756A-4D00-9FDB7E3D0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22" y="1276395"/>
            <a:ext cx="5490427" cy="2700643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7661FA37-9921-E80B-B7D2-4795A772A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955" y="1276395"/>
            <a:ext cx="5948045" cy="2925445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BD57B2FA-A856-BEF5-9262-41EA0FE1A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040" y="3627120"/>
            <a:ext cx="596392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r>
              <a:rPr lang="en-US" sz="900" b="1" kern="0" spc="400" dirty="0">
                <a:solidFill>
                  <a:srgbClr val="C97B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 ИТОГИ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Что сделано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Регистрация, логин, refresh, выход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77240" y="2990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Команды и роли admin/member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77240" y="3355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Приглашения по email и по UUID-ссылке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77240" y="3721608"/>
            <a:ext cx="5210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Канбан-доски с drag-and-drop колонок и </a:t>
            </a:r>
            <a:r>
              <a:rPr lang="en-US" sz="2000" dirty="0" err="1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</a:t>
            </a:r>
            <a:r>
              <a:rPr lang="ru-RU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дач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7724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Комментарии, </a:t>
            </a:r>
            <a:r>
              <a:rPr lang="en-US" sz="2000" dirty="0" err="1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файлы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77240" y="4453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 изменений через события Spring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777240" y="4818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задач с фильтрами и пагинацией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64008" cy="64008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777240" y="5184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Локализация ru/en, темизация под бренд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0" b="1" kern="0" spc="-1000" dirty="0">
                <a:solidFill>
                  <a:srgbClr val="EAE7D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THANKS.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kern="0" spc="-10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Спасибо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kern="0" spc="-100" dirty="0" err="1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</a:t>
            </a:r>
            <a:r>
              <a:rPr lang="en-US" sz="9000" b="1" kern="0" spc="-10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9000" b="1" kern="0" spc="-100" dirty="0" err="1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внимание</a:t>
            </a:r>
            <a:endParaRPr lang="en-US" sz="9000" dirty="0"/>
          </a:p>
        </p:txBody>
      </p:sp>
      <p:sp>
        <p:nvSpPr>
          <p:cNvPr id="13" name="Shape 11"/>
          <p:cNvSpPr/>
          <p:nvPr/>
        </p:nvSpPr>
        <p:spPr>
          <a:xfrm>
            <a:off x="7589520" y="4023360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  <a:effectLst>
            <a:outerShdw blurRad="177800" dist="508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754112" y="4160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754112" y="4407408"/>
            <a:ext cx="1249680" cy="1417320"/>
          </a:xfrm>
          <a:prstGeom prst="roundRect">
            <a:avLst>
              <a:gd name="adj" fmla="val 3659"/>
            </a:avLst>
          </a:prstGeom>
          <a:solidFill>
            <a:srgbClr val="ECEAE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818120" y="4453128"/>
            <a:ext cx="112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818120" y="4681728"/>
            <a:ext cx="112166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7891272" y="4800600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001000" y="4745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7891272" y="4928616"/>
            <a:ext cx="97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auth bug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5138928"/>
            <a:ext cx="112166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7891272" y="5257800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8001000" y="5202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891272" y="5385816"/>
            <a:ext cx="97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redesign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67800" y="4407408"/>
            <a:ext cx="1249680" cy="1417320"/>
          </a:xfrm>
          <a:prstGeom prst="roundRect">
            <a:avLst>
              <a:gd name="adj" fmla="val 3659"/>
            </a:avLst>
          </a:prstGeom>
          <a:solidFill>
            <a:srgbClr val="ECEAE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9131808" y="4453128"/>
            <a:ext cx="112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131808" y="4681728"/>
            <a:ext cx="112166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9204960" y="4800600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9314688" y="4745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9204960" y="4928616"/>
            <a:ext cx="97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381488" y="4407408"/>
            <a:ext cx="1249680" cy="1417320"/>
          </a:xfrm>
          <a:prstGeom prst="roundRect">
            <a:avLst>
              <a:gd name="adj" fmla="val 3659"/>
            </a:avLst>
          </a:prstGeom>
          <a:solidFill>
            <a:srgbClr val="ECEAE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10445496" y="4453128"/>
            <a:ext cx="112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445496" y="4681728"/>
            <a:ext cx="112166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10518648" y="4800600"/>
            <a:ext cx="73152" cy="73152"/>
          </a:xfrm>
          <a:prstGeom prst="ellipse">
            <a:avLst/>
          </a:prstGeom>
          <a:solidFill>
            <a:srgbClr val="C97B5B"/>
          </a:solidFill>
          <a:ln w="12700">
            <a:solidFill>
              <a:srgbClr val="C97B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10628376" y="4745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0518648" y="4928616"/>
            <a:ext cx="97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1748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00" kern="0" spc="300" dirty="0">
                <a:solidFill>
                  <a:srgbClr val="8A8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914</Words>
  <Application>Microsoft Office PowerPoint</Application>
  <PresentationFormat>Широкоэкранный</PresentationFormat>
  <Paragraphs>203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Consolas</vt:lpstr>
      <vt:lpstr>Inter</vt:lpstr>
      <vt:lpstr>Playfair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 Board — курсовой проект</dc:title>
  <dc:subject>PptxGenJS Presentation</dc:subject>
  <dc:creator>Парфёнов Р., Степанцева Е.</dc:creator>
  <cp:lastModifiedBy>Katrin</cp:lastModifiedBy>
  <cp:revision>9</cp:revision>
  <dcterms:created xsi:type="dcterms:W3CDTF">2026-05-12T20:13:38Z</dcterms:created>
  <dcterms:modified xsi:type="dcterms:W3CDTF">2026-05-16T14:56:28Z</dcterms:modified>
</cp:coreProperties>
</file>