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8" r:id="rId12"/>
    <p:sldId id="270" r:id="rId13"/>
    <p:sldId id="271" r:id="rId14"/>
    <p:sldId id="272" r:id="rId15"/>
    <p:sldId id="273" r:id="rId16"/>
    <p:sldId id="275" r:id="rId17"/>
    <p:sldId id="276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9063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0" dirty="0"/>
          </a:p>
        </p:txBody>
      </p:sp>
      <p:sp>
        <p:nvSpPr>
          <p:cNvPr id="8" name="Text 6"/>
          <p:cNvSpPr/>
          <p:nvPr/>
        </p:nvSpPr>
        <p:spPr>
          <a:xfrm>
            <a:off x="502920" y="10515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kern="0" spc="-100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MANAGE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kern="0" spc="-100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</a:t>
            </a:r>
            <a:endParaRPr lang="en-US" sz="7800" dirty="0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kern="0" spc="-100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KURSOVIK</a:t>
            </a:r>
            <a:endParaRPr lang="en-US" sz="7800" dirty="0"/>
          </a:p>
        </p:txBody>
      </p:sp>
      <p:sp>
        <p:nvSpPr>
          <p:cNvPr id="11" name="Text 9"/>
          <p:cNvSpPr/>
          <p:nvPr/>
        </p:nvSpPr>
        <p:spPr>
          <a:xfrm>
            <a:off x="502920" y="3931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kern="0" spc="-100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BEAUTIFUL.</a:t>
            </a:r>
            <a:endParaRPr lang="en-US" sz="7800" dirty="0"/>
          </a:p>
        </p:txBody>
      </p:sp>
      <p:sp>
        <p:nvSpPr>
          <p:cNvPr id="12" name="Shape 10"/>
          <p:cNvSpPr/>
          <p:nvPr/>
        </p:nvSpPr>
        <p:spPr>
          <a:xfrm>
            <a:off x="7818120" y="82296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  <a:effectLst>
            <a:outerShdw blurRad="177800" dist="508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82712" y="9601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42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982712" y="1207008"/>
            <a:ext cx="1158240" cy="1417320"/>
          </a:xfrm>
          <a:prstGeom prst="roundRect">
            <a:avLst>
              <a:gd name="adj" fmla="val 3947"/>
            </a:avLst>
          </a:prstGeom>
          <a:solidFill>
            <a:srgbClr val="ECEA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1252728"/>
            <a:ext cx="103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DO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8046720" y="1481328"/>
            <a:ext cx="103022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19872" y="16002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5453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8119872" y="1728216"/>
            <a:ext cx="883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auth bug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46720" y="1938528"/>
            <a:ext cx="103022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20574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2002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8119872" y="2185416"/>
            <a:ext cx="883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redesign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204960" y="1207008"/>
            <a:ext cx="1158240" cy="1417320"/>
          </a:xfrm>
          <a:prstGeom prst="roundRect">
            <a:avLst>
              <a:gd name="adj" fmla="val 3947"/>
            </a:avLst>
          </a:prstGeom>
          <a:solidFill>
            <a:srgbClr val="ECEA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68968" y="1252728"/>
            <a:ext cx="103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PROGRESS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9268968" y="1481328"/>
            <a:ext cx="103022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42120" y="16002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51848" y="15453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9342120" y="1728216"/>
            <a:ext cx="883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UI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427208" y="1207008"/>
            <a:ext cx="1158240" cy="1417320"/>
          </a:xfrm>
          <a:prstGeom prst="roundRect">
            <a:avLst>
              <a:gd name="adj" fmla="val 3947"/>
            </a:avLst>
          </a:prstGeom>
          <a:solidFill>
            <a:srgbClr val="ECEA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91216" y="1252728"/>
            <a:ext cx="103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DONE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0491216" y="1481328"/>
            <a:ext cx="103022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64368" y="16002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74096" y="15453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0564368" y="1728216"/>
            <a:ext cx="883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85110" y="3154680"/>
            <a:ext cx="3584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ВЫПОЛНИЛИ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7818120" y="4206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8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Ст. </a:t>
            </a:r>
            <a:r>
              <a:rPr lang="en-US" sz="2800" dirty="0" err="1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</a:t>
            </a:r>
            <a:r>
              <a:rPr lang="en-US" sz="28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ПРИ-123 </a:t>
            </a:r>
            <a:endParaRPr lang="ru-RU" sz="2800" dirty="0">
              <a:solidFill>
                <a:srgbClr val="0A0A0A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Парфёнов Роман  ·  Степанцева </a:t>
            </a:r>
            <a:r>
              <a:rPr lang="en-US" sz="2800" dirty="0" err="1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Екатерина</a:t>
            </a:r>
            <a:r>
              <a:rPr lang="en-US" sz="28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10332720" y="6400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— 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26310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/  ВВЕДЕНИЕ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518016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Зачем</a:t>
            </a:r>
            <a:endParaRPr lang="en-US" sz="6400" dirty="0"/>
          </a:p>
          <a:p>
            <a:pPr marL="0" indent="0" algn="l">
              <a:buNone/>
            </a:pPr>
            <a:r>
              <a:rPr lang="en-US" sz="64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командам Kanban?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dirty="0" err="1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Современные</a:t>
            </a:r>
            <a:r>
              <a:rPr lang="en-US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компании</a:t>
            </a:r>
            <a:r>
              <a:rPr lang="en-US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работают с десятками </a:t>
            </a:r>
            <a:r>
              <a:rPr lang="en-US" dirty="0" err="1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</a:t>
            </a:r>
            <a:r>
              <a:rPr lang="en-US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dirty="0" err="1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параллельно</a:t>
            </a:r>
            <a:r>
              <a:rPr lang="en-US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ru-RU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Мессенджеры</a:t>
            </a:r>
            <a:r>
              <a:rPr lang="en-US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 таблицы не справляются — теряется контекст, кто что делает и в каком статусе.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8640" y="4390845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Kanban-доска решает это визуально: задача = карточка, статус = колонка. Прозрачно, наглядно, легко перестроить под любой процесс.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90847" y="300889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30927" y="300889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Хаос в задачах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630927" y="337465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Визуальные колонки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90847" y="3786134"/>
            <a:ext cx="484632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0847" y="387757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30927" y="387757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Непонятный статус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630927" y="424333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Drag-and-drop между колонками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90847" y="4654814"/>
            <a:ext cx="484632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90847" y="474625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30927" y="474625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История потеряна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630927" y="511201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Аудит всех изменений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02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4343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/  ЦЕЛЬ ПРОЕКТА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Что мы сделали.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Разработали full-stack веб-приложение — Kanban-доску для командной работы.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на Spring Boot, frontend на React, аутентификация по JWT, drag-and-drop, аудит.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94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41376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Аутентификация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" y="5029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в HttpOnly cookie, BCrypt, refresh-токены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5204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3794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0" y="4160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Команды и доски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657600" y="5029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Группы, роли admin/member, приглашения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794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92240" y="4160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Канбан с DnD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92240" y="5029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Колонки и задачи, перетаскивание, фильтры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3794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326880" y="4160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Аудит изменений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0" y="5029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История полей задачи через события Spring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03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80644" y="3749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/  ОБЗОР СИСТЕМЫ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SPA на React  +  REST API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на Spring Boot.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ВОЗМОЖНОСТИ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41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Команды, роли и приглашения по email или ссылке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43984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70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Kanban-доски с настраиваемыми колонками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73168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700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задач и колонок (dnd-kit)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02352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Комментарии, файлы, история изменений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431536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3583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Таблица задач с фильтрами и пагинацией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76072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Русская и английская локализация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21208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187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629400" y="4434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React 19 SPA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0" y="4937760"/>
            <a:ext cx="521208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5010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62940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Spring Boot 4 / Java 21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0" y="5760720"/>
            <a:ext cx="521208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5833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29400" y="6080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MySQL 8 + Liquibase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04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/  АРХИТЕКТУРА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Слоистая архитектура.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Классическая разбивка backend: Controllers → Services → Repositories → DB. Каждый слой делает ровно одно, проще тестировать и менять.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83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77240" y="379476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Controllers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HTTP, валидируют payload (@Valid), отдают DTO.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52928" y="31089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3383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3081528" y="379476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81528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Services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081528" y="45262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Бизнес-логика, проверка прав, @Transactional.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57216" y="31089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85816" y="3383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385816" y="379476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85816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Repositories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385816" y="45262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Data JPA, @EntityGraph для борьбы с N+1.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61504" y="31089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90104" y="3383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7690104" y="379476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90104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Entities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7690104" y="45262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JPA-сущности с LAZY-связями и составными ключами.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765792" y="31089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94392" y="3383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9994392" y="379476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Database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9994392" y="45262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8.0, миграции Liquibase, индексы по FK.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05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393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 /  ТЕХНОЛОГИИ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Backend stack.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23160"/>
            <a:ext cx="54864" cy="132588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51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Java 21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361688" y="2423160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2423160"/>
            <a:ext cx="54864" cy="132588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2651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Spring Boot 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174736" y="2423160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2423160"/>
            <a:ext cx="54864" cy="132588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49056" y="2651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MySQL 8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48640" y="3913632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913632"/>
            <a:ext cx="54864" cy="132588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422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Liquibase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361688" y="3913632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61688" y="3913632"/>
            <a:ext cx="54864" cy="132588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41422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JWT (jjwt)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174736" y="3913632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74736" y="3913632"/>
            <a:ext cx="54864" cy="132588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41422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MapStruct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8640" y="5715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ДОПОЛНИТЕЛЬНО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BCrypt  ·  Jakarta Validation  ·  Lombok  ·  Maven  ·  Docker (multi-stage)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06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 /  ТЕХНОЛОГИИ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Frontend stack.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23160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React 19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3152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Хуки, lazy + Suspense, code-splitting.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10712" y="24231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10712" y="2423160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Vite 8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593592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Сборщик, dev-proxy на :8080.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72784" y="24231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423160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5664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TanStack Query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Кэширование, инвалидация по ключам, optimistic.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34856" y="24231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4856" y="2423160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7736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Zustand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317736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Лёгкий store: auth, UI, i18n.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67912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67912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0507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dnd-kit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31520" y="45079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колонок и задач.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10712" y="3867912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10712" y="3867912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93592" y="40507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Tailwind 3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3593592" y="45079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Утилитарный CSS, кастомная палитра.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72784" y="3867912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72784" y="3867912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5664" y="40507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RHF + Zod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6455664" y="45079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Формы и валидация по схеме.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134856" y="3867912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4856" y="3867912"/>
            <a:ext cx="54864" cy="1280160"/>
          </a:xfrm>
          <a:prstGeom prst="rect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17736" y="40507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Framer Motion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9317736" y="45079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Анимации страниц, появления элементов.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5760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ТАКЖЕ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Axios (interceptors)  ·  React Router 7  ·  date-fns  ·  Sonner (toasts)  ·  Lucide-react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07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 /  МОДЕЛЬ ДАННЫХ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Ключевые сущности.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СУЩНОСТЬ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2423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НАЗНАЧЕНИЕ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СВЯЗИ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11064240" cy="0"/>
          </a:xfrm>
          <a:prstGeom prst="line">
            <a:avLst/>
          </a:prstGeom>
          <a:noFill/>
          <a:ln w="9525">
            <a:solidFill>
              <a:srgbClr val="0A0A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834640"/>
            <a:ext cx="11064240" cy="329184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346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26080" y="28346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Аккаунт пользователя (email, имя, аватар)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0" y="28346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M:N с GroupTeam через GroupMember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6382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GroupTeam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26080" y="31638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— корневой агрегат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0" y="316382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1:N → Boards, M:N с User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93008"/>
            <a:ext cx="11064240" cy="329184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930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26080" y="349300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Канбан-доска внутри команды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0" y="349300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1:N → Columns, M:N с User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8221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BoardColumn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926080" y="38221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Колонка доски (To Do, In Progress…)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6720" y="3822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M:1 → Board, 1:N → Tasks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151376"/>
            <a:ext cx="11064240" cy="329184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15137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26080" y="41513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Карточка задачи (приоритет, дедлайн, статус)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4672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M:1 → Column, M:1 → User (assignee)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4805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Comment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926080" y="448056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Комментарий к задаче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46720" y="448056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M:1 → Task, M:1 → User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809744"/>
            <a:ext cx="11064240" cy="329184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8097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Attachment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26080" y="480974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Файловое вложение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4809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M:1 → Task, M:1 → User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51389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TaskHistory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51389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 изменений задачи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46720" y="5138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M:1 → Task (создаётся событием)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5468112"/>
            <a:ext cx="11064240" cy="329184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4681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7B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Invitation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926080" y="546811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Приглашение в группу (email или link)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46720" y="54681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M:1 → GroupTeam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5797296"/>
            <a:ext cx="1106424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08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API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REST API под /kanban/api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контроллеров: auth, users, groups, members, boards, board-users, columns, tasks, comments, attachments, files, invitations, task-history.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МЕТОД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54480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0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64240" cy="0"/>
          </a:xfrm>
          <a:prstGeom prst="line">
            <a:avLst/>
          </a:prstGeom>
          <a:noFill/>
          <a:ln w="9525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337560"/>
            <a:ext cx="11064240" cy="310896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374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54480" y="33375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/auth/login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0" y="33375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Логин, выдача JWT в HttpOnly cookies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36850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54480" y="364845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/auth/refresh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0" y="3648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Обновление access-токена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11064240" cy="310896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9959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B8D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3959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/boards/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3959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Список моих досок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3068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554480" y="42702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/boards/{id}/columns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5120" y="42702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новой колонки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81144"/>
            <a:ext cx="11064240" cy="310896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17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88D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554480" y="45811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/boards/{id}/columns/{cid}/move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458114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Перемещение колонки (drag-and-drop)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9286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554480" y="4892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/boards/{id}/tasks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489204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задачи в колонке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202936"/>
            <a:ext cx="11064240" cy="310896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5239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88D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554480" y="52029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/boards/{id}/tasks/{tid}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0" y="52029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Полное обновление задачи + событие аудита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55504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554480" y="551383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/boards/{id}/tasks/{tid}/attachments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0" y="55138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Загрузка вложения (multipart)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5824728"/>
            <a:ext cx="11064240" cy="310896"/>
          </a:xfrm>
          <a:prstGeom prst="rect">
            <a:avLst/>
          </a:prstGeom>
          <a:solidFill>
            <a:srgbClr val="EFEDE6"/>
          </a:solidFill>
          <a:ln w="12700">
            <a:solidFill>
              <a:srgbClr val="EFED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861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554480" y="5824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/invitations/group/{gid}/email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75120" y="58247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Приглашение в группу по email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СЦЕНАРИЙ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Жизненный цикл сессии.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1945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Login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77240" y="388620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2336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/auth/login → проверка BCrypt → выдача access + refresh в HttpOnly cookies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62072" y="2468880"/>
            <a:ext cx="21945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0672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090672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Запрос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090672" y="388620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90672" y="402336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Axios шлёт withCredentials: true; JwtAuthenticationFilter парсит токен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75504" y="2468880"/>
            <a:ext cx="21945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04104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5404104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401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404104" y="388620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04104" y="402336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протух → interceptor ловит ответ, помечает _retry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88936" y="2468880"/>
            <a:ext cx="21945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17536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7717536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Refresh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7717536" y="388620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17536" y="402336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Singleton-promise: один запрос /auth/refresh на N параллельных 401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802368" y="2468880"/>
            <a:ext cx="21945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30968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97B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10030968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Повтор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10030968" y="3886200"/>
            <a:ext cx="17373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30968" y="402336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Исходный запрос повторяется автоматически с новым access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DRAG &amp; DROP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Optimistic updates на DnD.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Пользователь перетаскивает карточку — карточка возвращается в исходную колонку на время запроса (200-500 мс), потом «прыгает» назад. UX страдает.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РЕШЕНИЕ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useMoveTask в TanStack Query: onMutate сразу обновляет cache, onError откатывает к сохранённому prev, onSettled инвалидирует ключ tasksKey(boardId).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42316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useMoveTask.js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926080"/>
            <a:ext cx="1828800" cy="0"/>
          </a:xfrm>
          <a:prstGeom prst="line">
            <a:avLst/>
          </a:prstGeom>
          <a:noFill/>
          <a:ln w="6350">
            <a:solidFill>
              <a:srgbClr val="3D3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63240"/>
            <a:ext cx="48463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onMutate: async ({ taskId, toColumn, newPos }) =&gt; {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qc.cancelQueries(tasksKey(boardId));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prev = qc.getQueryData(tasksKey(boardId));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qc.setQueryData(tasksKey(boardId), (old) =&gt;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reorderOptimistic(old, taskId, toColumn, newPos)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prev };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onError: (err, vars, ctx) =&gt; {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qc.setQueryData(tasksKey(boardId), ctx.prev);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onSettled: () =&gt; {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qc.invalidateQueries(tasksKey(boardId));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1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АУДИТ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История изменений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через события.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Бизнес-сервис ничего не знает про аудит — он только публикует TaskChangeEvent. Слушатель TaskHistoryListener сам пишет запись в task_history. Слабая связанность.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315968"/>
            <a:ext cx="109728" cy="10972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46634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Фиксация автора и времени создания задачи.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64992" y="4069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93592" y="4315968"/>
            <a:ext cx="109728" cy="10972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6472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93592" y="46634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TaskChangeEvent на каждое изменённое поле: oldValue → newValue.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81344" y="4069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944" y="4315968"/>
            <a:ext cx="109728" cy="10972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92824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9944" y="46634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Смена колонки или позиции внутри колонки.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97696" y="4069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26296" y="4315968"/>
            <a:ext cx="109728" cy="10972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09176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26296" y="46634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Удаление задачи (запись остаётся в истории даже после удаления).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1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ОШИБКИ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Единый формат ошибок.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GlobalExceptionHandler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@RestControllerAdvice ловит все ApiException и приводит к единому JSON-ответу. HTTP-код берётся из @ResponseStatus.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ErrorCode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Двухбуквенный префикс + 4 цифры: AU0001, US0002, BD0001 и т. д. Фронт берёт перевод по коду из i18n-словаря — message с сервера это только fallback.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23774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ErrorResponse JSON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2880360"/>
            <a:ext cx="1828800" cy="0"/>
          </a:xfrm>
          <a:prstGeom prst="line">
            <a:avLst/>
          </a:prstGeom>
          <a:noFill/>
          <a:ln w="6350">
            <a:solidFill>
              <a:srgbClr val="3D3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06324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HTTP 403 Forbidden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"code": "GR0001",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"Требуются права администратора",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"details": null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HTTP 400 — валидация (несколько полей)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"code": "VA0001",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"Ошибка валидации",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"details": {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"fields": {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"email": "Некорректный email",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"password": "Минимум 8 символов"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CEA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} 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1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206240" y="2926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  HOW IT WORKS   STATS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509760" y="2926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561320" y="292608"/>
            <a:ext cx="1051560" cy="411480"/>
          </a:xfrm>
          <a:prstGeom prst="roundRect">
            <a:avLst>
              <a:gd name="adj" fmla="val 48889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61320" y="29260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Started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ЛОКАЛИЗАЦИЯ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Русский и английский.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3D3D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Zustand-store с persist в localStorage хранит выбранный язык. Хук useTranslation триггерит ре-рендер всех потребителей при смене. Функция t используется вне React (axios-интерсепторы).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20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70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31089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 (по умолчанию) и en. Mirror-структура словарей.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333756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3520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20+</a:t>
            </a:r>
            <a:endParaRPr lang="en-US" sz="7000" dirty="0"/>
          </a:p>
        </p:txBody>
      </p:sp>
      <p:sp>
        <p:nvSpPr>
          <p:cNvPr id="17" name="Text 15"/>
          <p:cNvSpPr/>
          <p:nvPr/>
        </p:nvSpPr>
        <p:spPr>
          <a:xfrm>
            <a:off x="461772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ГРУПП КЛЮЧЕЙ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4937760"/>
            <a:ext cx="31089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common, nav, auth, boards, errors, priorities…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333756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3520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1:1</a:t>
            </a:r>
            <a:endParaRPr lang="en-US" sz="7000" dirty="0"/>
          </a:p>
        </p:txBody>
      </p:sp>
      <p:sp>
        <p:nvSpPr>
          <p:cNvPr id="22" name="Text 20"/>
          <p:cNvSpPr/>
          <p:nvPr/>
        </p:nvSpPr>
        <p:spPr>
          <a:xfrm>
            <a:off x="841248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ERRORCODE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412480" y="4937760"/>
            <a:ext cx="3108960" cy="0"/>
          </a:xfrm>
          <a:prstGeom prst="line">
            <a:avLst/>
          </a:prstGeom>
          <a:noFill/>
          <a:ln w="6350">
            <a:solidFill>
              <a:srgbClr val="D9D5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errors.US0001 ↔ ErrorCode.US0001 на бэке.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1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605574" y="87675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ИНТЕРФЕЙС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5574" y="361995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Дашборд и доска.</a:t>
            </a:r>
            <a:endParaRPr lang="en-US" sz="5200" dirty="0"/>
          </a:p>
        </p:txBody>
      </p:sp>
      <p:sp>
        <p:nvSpPr>
          <p:cNvPr id="54" name="Text 52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1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C85F6763-4309-756A-4D00-9FDB7E3D0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022" y="1276395"/>
            <a:ext cx="5490427" cy="2700643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7661FA37-9921-E80B-B7D2-4795A772A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955" y="1276395"/>
            <a:ext cx="5948045" cy="2925445"/>
          </a:xfrm>
          <a:prstGeom prst="rect">
            <a:avLst/>
          </a:prstGeom>
        </p:spPr>
      </p:pic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BD57B2FA-A856-BEF5-9262-41EA0FE1A8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4040" y="3627120"/>
            <a:ext cx="5963920" cy="2933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ru-RU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r>
              <a:rPr lang="en-US" sz="900" b="1" kern="0" spc="400" dirty="0">
                <a:solidFill>
                  <a:srgbClr val="C97B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 ИТОГИ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400" b="1" dirty="0" err="1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Что</a:t>
            </a:r>
            <a:r>
              <a:rPr lang="en-US" sz="4400" b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</a:t>
            </a:r>
            <a:r>
              <a:rPr lang="en-US" sz="4400" b="1" dirty="0" err="1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сделано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24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Регистрация, логин, refresh, выход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90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Команды и роли admin/member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3558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Приглашения по email и по UUID-ссылке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721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Канбан-доски с drag-and-drop колонок и задач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87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Комментарии, </a:t>
            </a:r>
            <a:r>
              <a:rPr lang="en-US" sz="2000" dirty="0" err="1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файлы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453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История изменений через события Spring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489204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818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Таблица задач с фильтрами и пагинацией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64008" cy="64008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184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Локализация ru/en, темизация под бренд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 / 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0" b="1" kern="0" spc="-1000" dirty="0">
                <a:solidFill>
                  <a:srgbClr val="EAE7D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THANKS.</a:t>
            </a:r>
            <a:endParaRPr lang="en-US" sz="300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kern="0" spc="-100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Спасибо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502920" y="2423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kern="0" spc="-100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за внимание.</a:t>
            </a:r>
            <a:endParaRPr lang="en-US" sz="9000" dirty="0"/>
          </a:p>
        </p:txBody>
      </p:sp>
      <p:sp>
        <p:nvSpPr>
          <p:cNvPr id="13" name="Shape 11"/>
          <p:cNvSpPr/>
          <p:nvPr/>
        </p:nvSpPr>
        <p:spPr>
          <a:xfrm>
            <a:off x="7589520" y="4023360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  <a:effectLst>
            <a:outerShdw blurRad="177800" dist="508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54112" y="4160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42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7754112" y="4407408"/>
            <a:ext cx="1249680" cy="1417320"/>
          </a:xfrm>
          <a:prstGeom prst="roundRect">
            <a:avLst>
              <a:gd name="adj" fmla="val 3659"/>
            </a:avLst>
          </a:prstGeom>
          <a:solidFill>
            <a:srgbClr val="ECEA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18120" y="4453128"/>
            <a:ext cx="1121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DO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7818120" y="4681728"/>
            <a:ext cx="112166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91272" y="48006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7891272" y="4928616"/>
            <a:ext cx="97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auth bug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818120" y="5138928"/>
            <a:ext cx="112166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91272" y="52578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000" y="52029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7891272" y="5385816"/>
            <a:ext cx="97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redesign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67800" y="4407408"/>
            <a:ext cx="1249680" cy="1417320"/>
          </a:xfrm>
          <a:prstGeom prst="roundRect">
            <a:avLst>
              <a:gd name="adj" fmla="val 3659"/>
            </a:avLst>
          </a:prstGeom>
          <a:solidFill>
            <a:srgbClr val="ECEA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1808" y="4453128"/>
            <a:ext cx="1121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PROGRESS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9131808" y="4681728"/>
            <a:ext cx="112166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04960" y="48006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14688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9204960" y="4928616"/>
            <a:ext cx="97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UI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381488" y="4407408"/>
            <a:ext cx="1249680" cy="1417320"/>
          </a:xfrm>
          <a:prstGeom prst="roundRect">
            <a:avLst>
              <a:gd name="adj" fmla="val 3659"/>
            </a:avLst>
          </a:prstGeom>
          <a:solidFill>
            <a:srgbClr val="ECEA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45496" y="4453128"/>
            <a:ext cx="1121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DONE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445496" y="4681728"/>
            <a:ext cx="112166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6350">
            <a:solidFill>
              <a:srgbClr val="D9D5C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18648" y="4800600"/>
            <a:ext cx="73152" cy="73152"/>
          </a:xfrm>
          <a:prstGeom prst="ellipse">
            <a:avLst/>
          </a:prstGeom>
          <a:solidFill>
            <a:srgbClr val="C97B5B"/>
          </a:solidFill>
          <a:ln w="12700">
            <a:solidFill>
              <a:srgbClr val="C97B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28376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0518648" y="4928616"/>
            <a:ext cx="97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Курсовой проект  /  ПРИ-123  /  2026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332720" y="6400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800" kern="0" spc="300" dirty="0">
                <a:solidFill>
                  <a:srgbClr val="8A8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1517</Words>
  <Application>Microsoft Office PowerPoint</Application>
  <PresentationFormat>Широкоэкранный</PresentationFormat>
  <Paragraphs>330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Consolas</vt:lpstr>
      <vt:lpstr>Inter</vt:lpstr>
      <vt:lpstr>Playfair Display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Board — курсовой проект</dc:title>
  <dc:subject>PptxGenJS Presentation</dc:subject>
  <dc:creator>Парфёнов Р., Степанцева Е.</dc:creator>
  <cp:lastModifiedBy>Роман парфёнов</cp:lastModifiedBy>
  <cp:revision>2</cp:revision>
  <dcterms:created xsi:type="dcterms:W3CDTF">2026-05-12T20:13:38Z</dcterms:created>
  <dcterms:modified xsi:type="dcterms:W3CDTF">2026-05-12T20:48:07Z</dcterms:modified>
</cp:coreProperties>
</file>